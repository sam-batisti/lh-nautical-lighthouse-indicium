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6400800" cy="6400800"/>
          </a:xfrm>
          <a:prstGeom prst="ellipse">
            <a:avLst/>
          </a:prstGeom>
          <a:solidFill>
            <a:srgbClr val="1B253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1820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LH NAUTICAL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31272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CHALLENGE — DA EXPLORAÇÃO DE DADOS À INTELIGÊNCIA APLICADA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397764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D2630"/>
          </a:solidFill>
          <a:ln w="13970">
            <a:solidFill>
              <a:srgbClr val="6FA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977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72768" y="3977640"/>
            <a:ext cx="566928" cy="384048"/>
          </a:xfrm>
          <a:prstGeom prst="roundRect">
            <a:avLst>
              <a:gd name="adj" fmla="val 50000"/>
            </a:avLst>
          </a:prstGeom>
          <a:solidFill>
            <a:srgbClr val="1D2630"/>
          </a:solidFill>
          <a:ln w="13970">
            <a:solidFill>
              <a:srgbClr val="6FA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397764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04288" y="3977640"/>
            <a:ext cx="841248" cy="384048"/>
          </a:xfrm>
          <a:prstGeom prst="roundRect">
            <a:avLst>
              <a:gd name="adj" fmla="val 50000"/>
            </a:avLst>
          </a:prstGeom>
          <a:solidFill>
            <a:srgbClr val="1D2630"/>
          </a:solidFill>
          <a:ln w="13970">
            <a:solidFill>
              <a:srgbClr val="5FB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04288" y="397764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397764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1D2630"/>
          </a:solidFill>
          <a:ln w="13970">
            <a:solidFill>
              <a:srgbClr val="8F9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39776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demanda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04688" y="397764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1D2630"/>
          </a:solidFill>
          <a:ln w="13970">
            <a:solidFill>
              <a:srgbClr val="8F93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3977640"/>
            <a:ext cx="1389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59168" y="397764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D2630"/>
          </a:solidFill>
          <a:ln w="13970">
            <a:solidFill>
              <a:srgbClr val="C997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397764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Samantha Fernandes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6263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Candidata — Programa de Bolsas de Dados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Uma campanha na próxima semana,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dados completamente desorganizados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6583680" cy="3794760"/>
          </a:xfrm>
          <a:prstGeom prst="roundRect">
            <a:avLst>
              <a:gd name="adj" fmla="val 2410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LH Nautical é uma varejista náutica fictícia (lojas físicas, armazéns e e-commerce), com dados operacionais de 2020 a 2026: catálogo, pedidos, pagamentos, NF-e, compras, estoque e devoluções.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Tech Lead Gabriel Santos foi direto: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6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“Eu valorizo mais a organização e a explicação do que o código rodando sem eu entender nada.”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2331720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07808" y="2532888"/>
            <a:ext cx="146304" cy="146304"/>
          </a:xfrm>
          <a:prstGeom prst="ellipse">
            <a:avLst/>
          </a:prstGeom>
          <a:solidFill>
            <a:srgbClr val="6FA3C9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245973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607808" y="2862072"/>
            <a:ext cx="3849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Volume, distribuição e qualidade — sem tratar nada ainda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3300984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07808" y="3502152"/>
            <a:ext cx="146304" cy="146304"/>
          </a:xfrm>
          <a:prstGeom prst="ellipse">
            <a:avLst/>
          </a:prstGeom>
          <a:solidFill>
            <a:srgbClr val="5FB8A8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4290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&amp; modelagem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07808" y="3831336"/>
            <a:ext cx="3849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PostgreSQL + carga bruta via SQL/Python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4270248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07808" y="4471416"/>
            <a:ext cx="146304" cy="146304"/>
          </a:xfrm>
          <a:prstGeom prst="ellipse">
            <a:avLst/>
          </a:prstGeom>
          <a:solidFill>
            <a:srgbClr val="C9975B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439826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vendas &amp; clientes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07808" y="4800600"/>
            <a:ext cx="3849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sobre o banco relacional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5239512"/>
            <a:ext cx="4251960" cy="859536"/>
          </a:xfrm>
          <a:prstGeom prst="roundRect">
            <a:avLst>
              <a:gd name="adj" fmla="val 9574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07808" y="5440680"/>
            <a:ext cx="146304" cy="146304"/>
          </a:xfrm>
          <a:prstGeom prst="ellipse">
            <a:avLst/>
          </a:prstGeom>
          <a:solidFill>
            <a:srgbClr val="8F93D9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53675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&amp; recomendação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07808" y="5769864"/>
            <a:ext cx="38496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estatístico e similaridade em Python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Pipeline de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CSV bruto ao painel — cada etapa documentada e com decisões justificadas.</a:t>
            </a:r>
            <a:endParaRPr lang="en-US" sz="1300" dirty="0"/>
          </a:p>
        </p:txBody>
      </p:sp>
      <p:pic>
        <p:nvPicPr>
          <p:cNvPr id="5" name="Image 0" descr="/sessions/amazing-relaxed-lovelace/mnt/outputs/dia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11274552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1 · EDA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“Posso confiar nesses dados?”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da tabela orders — sem tratamento, só observação e agregação.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67128"/>
            <a:ext cx="226771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6FA3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48.998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2977286"/>
            <a:ext cx="22677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· 13 colunas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20574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2167128"/>
            <a:ext cx="226771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6FA3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2020–2026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38728" y="2977286"/>
            <a:ext cx="22677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created_at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20574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67128"/>
            <a:ext cx="226771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6FA3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R$ 28.704,99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27648" y="2977286"/>
            <a:ext cx="22677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médio (total)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15400" y="2057400"/>
            <a:ext cx="2670048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2167128"/>
            <a:ext cx="2267712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6FA3C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R$ 32,62 – 127.262,02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116568" y="2977286"/>
            <a:ext cx="226771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mín. – máx.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721608"/>
            <a:ext cx="146304" cy="146304"/>
          </a:xfrm>
          <a:prstGeom prst="ellipse">
            <a:avLst/>
          </a:prstGeom>
          <a:solidFill>
            <a:srgbClr val="6FA3C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484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4050792"/>
            <a:ext cx="3163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452 registros fora da faixa IQR em “total” — 0,92% das linhas.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24528" y="352044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25696" y="3721608"/>
            <a:ext cx="146304" cy="146304"/>
          </a:xfrm>
          <a:prstGeom prst="ellipse">
            <a:avLst/>
          </a:prstGeom>
          <a:solidFill>
            <a:srgbClr val="8F93D9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6484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425696" y="4050792"/>
            <a:ext cx="3163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49,25% de salesperson_id nulo — precisa de investigação antes de qualquer leitura operacional.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0416" y="3520440"/>
            <a:ext cx="3749040" cy="2514600"/>
          </a:xfrm>
          <a:prstGeom prst="roundRect">
            <a:avLst>
              <a:gd name="adj" fmla="val 3273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3721608"/>
            <a:ext cx="146304" cy="146304"/>
          </a:xfrm>
          <a:prstGeom prst="ellipse">
            <a:avLst/>
          </a:prstGeom>
          <a:solidFill>
            <a:srgbClr val="C9975B"/>
          </a:solidFill>
          <a:ln/>
        </p:spPr>
      </p:sp>
      <p:sp>
        <p:nvSpPr>
          <p:cNvPr id="27" name="Text 25"/>
          <p:cNvSpPr/>
          <p:nvPr/>
        </p:nvSpPr>
        <p:spPr>
          <a:xfrm>
            <a:off x="8357616" y="3648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futuras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01584" y="4050792"/>
            <a:ext cx="33467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8,82% das linhas com created_at à frente da data de referência da análise.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Diagnóstico: base utilizável, mas não pronta para decisão sem tratamento prévio.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QUESTÕES 2 E 3 · SCHEMA &amp; CARGA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 planilha ao banco relacional</a:t>
            </a:r>
            <a:endParaRPr lang="en-US" sz="2800" dirty="0"/>
          </a:p>
        </p:txBody>
      </p:sp>
      <p:pic>
        <p:nvPicPr>
          <p:cNvPr id="4" name="Image 0" descr="/sessions/amazing-relaxed-lovelace/mnt/outputs/diag_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417320"/>
            <a:ext cx="6583680" cy="5257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600200"/>
            <a:ext cx="2148840" cy="2286000"/>
          </a:xfrm>
          <a:prstGeom prst="roundRect">
            <a:avLst>
              <a:gd name="adj" fmla="val 3830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4088" y="1801368"/>
            <a:ext cx="146304" cy="146304"/>
          </a:xfrm>
          <a:prstGeom prst="ellipse">
            <a:avLst/>
          </a:prstGeom>
          <a:solidFill>
            <a:srgbClr val="5FB8A8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7282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schema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130552"/>
            <a:ext cx="1746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PostgreSQL em Python puro, com inferência de tipo por coluna nos 24 CSVs.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4023360"/>
            <a:ext cx="2148840" cy="2377440"/>
          </a:xfrm>
          <a:prstGeom prst="roundRect">
            <a:avLst>
              <a:gd name="adj" fmla="val 3830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4224528"/>
            <a:ext cx="146304" cy="146304"/>
          </a:xfrm>
          <a:prstGeom prst="ellipse">
            <a:avLst/>
          </a:prstGeom>
          <a:solidFill>
            <a:srgbClr val="5FB8A8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415137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borda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04088" y="4553712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CPF/telefone com zero à esquerda e chave de acesso de NF-e (44 dígitos, estouraria BIGINT).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555480" y="1600200"/>
            <a:ext cx="2148840" cy="2286000"/>
          </a:xfrm>
          <a:prstGeom prst="roundRect">
            <a:avLst>
              <a:gd name="adj" fmla="val 3830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756648" y="1801368"/>
            <a:ext cx="146304" cy="146304"/>
          </a:xfrm>
          <a:prstGeom prst="ellipse">
            <a:avLst/>
          </a:prstGeom>
          <a:solidFill>
            <a:srgbClr val="6FA3C9"/>
          </a:solidFill>
          <a:ln/>
        </p:spPr>
      </p:sp>
      <p:sp>
        <p:nvSpPr>
          <p:cNvPr id="15" name="Text 12"/>
          <p:cNvSpPr/>
          <p:nvPr/>
        </p:nvSpPr>
        <p:spPr>
          <a:xfrm>
            <a:off x="10012680" y="172821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bruta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756648" y="2130552"/>
            <a:ext cx="17465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... FROM STDIN — cada valor entra exatamente como está no CSV original, sem transformação.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555480" y="4023360"/>
            <a:ext cx="2148840" cy="2377440"/>
          </a:xfrm>
          <a:prstGeom prst="roundRect">
            <a:avLst>
              <a:gd name="adj" fmla="val 3830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56648" y="4224528"/>
            <a:ext cx="146304" cy="146304"/>
          </a:xfrm>
          <a:prstGeom prst="ellipse">
            <a:avLst/>
          </a:prstGeom>
          <a:solidFill>
            <a:srgbClr val="6FA3C9"/>
          </a:solidFill>
          <a:ln/>
        </p:spPr>
      </p:sp>
      <p:sp>
        <p:nvSpPr>
          <p:cNvPr id="19" name="Text 16"/>
          <p:cNvSpPr/>
          <p:nvPr/>
        </p:nvSpPr>
        <p:spPr>
          <a:xfrm>
            <a:off x="10012680" y="415137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756648" y="4553712"/>
            <a:ext cx="17465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carga bruta de tratamento evita perder rastro do dado original em caso de erro de regra de negócio.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4 · CLIENTES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Os clientes mais fiéis compram de tudo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clientes fiéis por ticket médio, entre os que compraram de 13+ categorias distintas.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1554480"/>
          </a:xfrm>
          <a:prstGeom prst="roundRect">
            <a:avLst>
              <a:gd name="adj" fmla="val 5294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12848"/>
            <a:ext cx="2889504" cy="80833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5FB8A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/ 10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3094330"/>
            <a:ext cx="2889504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fiéis compraram das 14 categorias do catálogo inteiro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mais comprada pelo grupo (unidades)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605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Hélices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0" y="2450592"/>
            <a:ext cx="4572000" cy="310896"/>
          </a:xfrm>
          <a:prstGeom prst="roundRect">
            <a:avLst>
              <a:gd name="adj" fmla="val 17647"/>
            </a:avLst>
          </a:prstGeom>
          <a:solidFill>
            <a:srgbClr val="5FB8A8"/>
          </a:solidFill>
          <a:ln/>
        </p:spPr>
      </p:sp>
      <p:sp>
        <p:nvSpPr>
          <p:cNvPr id="11" name="Text 9"/>
          <p:cNvSpPr/>
          <p:nvPr/>
        </p:nvSpPr>
        <p:spPr>
          <a:xfrm>
            <a:off x="11338560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60520" y="29900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Coletes Salva-Vidas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017520"/>
            <a:ext cx="3652024" cy="310896"/>
          </a:xfrm>
          <a:prstGeom prst="roundRect">
            <a:avLst>
              <a:gd name="adj" fmla="val 17647"/>
            </a:avLst>
          </a:prstGeom>
          <a:solidFill>
            <a:srgbClr val="5F7185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8584" y="2990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160520" y="35570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Eletrônica Náutica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3584448"/>
            <a:ext cx="3642732" cy="310896"/>
          </a:xfrm>
          <a:prstGeom prst="roundRect">
            <a:avLst>
              <a:gd name="adj" fmla="val 17647"/>
            </a:avLst>
          </a:prstGeom>
          <a:solidFill>
            <a:srgbClr val="5F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10409292" y="35570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0881360" cy="2011680"/>
          </a:xfrm>
          <a:prstGeom prst="roundRect">
            <a:avLst>
              <a:gd name="adj" fmla="val 4091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178808"/>
            <a:ext cx="146304" cy="146304"/>
          </a:xfrm>
          <a:prstGeom prst="ellipse">
            <a:avLst/>
          </a:prstGeom>
          <a:solidFill>
            <a:srgbClr val="6FA3C9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10565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negócio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" y="4507992"/>
            <a:ext cx="104790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um catálogo de só 14 categorias, diversidade ≥ 13 é um corte quase universal entre clientes engajados — o que já é, em si, um sinal de que fidelidade nesta base está mais ligada a recorrência de compra do que a variedade de categoria.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9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5 · DIMENSÃO DE CALENDÁRIO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Dia sem venda não é dia ausente — é zero</a:t>
            </a:r>
            <a:endParaRPr lang="en-US" sz="2600" dirty="0"/>
          </a:p>
        </p:txBody>
      </p:sp>
      <p:pic>
        <p:nvPicPr>
          <p:cNvPr id="4" name="Image 0" descr="/sessions/amazing-relaxed-lovelace/mnt/outputs/diag_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8336" y="1508760"/>
            <a:ext cx="6821424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generate_series + LEFT JOIN + COALESCE(0), canal POS — sql/05_dimensao_calendario.sql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6 · PREVISÃO DE DEMANDA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Um baseline simples, e onde ele falha</a:t>
            </a:r>
            <a:endParaRPr lang="en-US" sz="2600" dirty="0"/>
          </a:p>
        </p:txBody>
      </p:sp>
      <p:pic>
        <p:nvPicPr>
          <p:cNvPr id="4" name="Image 0" descr="/sessions/amazing-relaxed-lovelace/mnt/outputs/diag_previ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1463040"/>
            <a:ext cx="6931152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5504688"/>
            <a:ext cx="146304" cy="146304"/>
          </a:xfrm>
          <a:prstGeom prst="ellipse">
            <a:avLst/>
          </a:prstGeom>
          <a:solidFill>
            <a:srgbClr val="C9975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4315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de qualidade de dados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583387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“Bússola de Bordo 702” tem 2 cadastros com o mesmo nome (ids 74 e 240) — nome não é chave única no catálogo. As 3 variantes de ambos foram usadas em conjunto após confirmar histórico de venda real nas duas.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9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QUESTÃO 7 · SISTEMA DE RECOMENDAÇÃO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compra junto com o Motor de Popa 1949?</a:t>
            </a:r>
            <a:endParaRPr lang="en-US" sz="2600" dirty="0"/>
          </a:p>
        </p:txBody>
      </p:sp>
      <p:pic>
        <p:nvPicPr>
          <p:cNvPr id="4" name="Image 0" descr="/sessions/amazing-relaxed-lovelace/mnt/outputs/diag_recomend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4056" y="1463040"/>
            <a:ext cx="6720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10881360" cy="960120"/>
          </a:xfrm>
          <a:prstGeom prst="roundRect">
            <a:avLst>
              <a:gd name="adj" fmla="val 8571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5504688"/>
            <a:ext cx="146304" cy="146304"/>
          </a:xfrm>
          <a:prstGeom prst="ellipse">
            <a:avLst/>
          </a:prstGeom>
          <a:solidFill>
            <a:srgbClr val="8F93D9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543153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Hipótese refutada pelos dados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583387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“Defensa Náutica” aparece no top 5, apesar da expectativa inicial de negócio — o catálogo tem ~44 SKUs distintos de defensa, o que dilui a similaridade calculada por produto individual.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9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COMPLEMENTAR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“Prejuízo” e “lucro” exigem cuidado de linguagem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numérico para os visuais de dashboard sugeridos no enunciado — sem premissa formal, então construída à parte das questões numeradas.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441448"/>
            <a:ext cx="3118104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C997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R$ 58.380,75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49808" y="3251606"/>
            <a:ext cx="311810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valor reembolsado (Bússola de Bordo 8282)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23317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07408" y="2441448"/>
            <a:ext cx="3118104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C997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41,3%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407408" y="3251606"/>
            <a:ext cx="311810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estimada média geral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63840" y="233172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65008" y="2441448"/>
            <a:ext cx="3118104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900" b="1" dirty="0">
                <a:solidFill>
                  <a:srgbClr val="C9975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R$ 529.657,42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065008" y="3251606"/>
            <a:ext cx="3118104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acumulada do cliente líder (id 740)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178808"/>
            <a:ext cx="146304" cy="146304"/>
          </a:xfrm>
          <a:prstGeom prst="ellipse">
            <a:avLst/>
          </a:prstGeom>
          <a:solidFill>
            <a:srgbClr val="C9975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0565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“prejuízo” nem “lucro” sem qualificar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49808" y="4507992"/>
            <a:ext cx="10479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devolvido não é prejuízo líquido — o item pode voltar ao estoque e ser revendido. E a diferença entre preço de venda e custo cadastrado não é lucro contábil — não desconta imposto, frete ou custo operacional. Por isso as views usam “valor reembolsado” e “margem estimada”, com a lógica documentada em SQL.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POWER BI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Visão Executiva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Faturamento, pedidos, ticket médio e sazonalidade — filtros de Ano, Canal e Categoria.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83112" cy="4434840"/>
          </a:xfrm>
          <a:prstGeom prst="roundRect">
            <a:avLst>
              <a:gd name="adj" fmla="val 1031"/>
            </a:avLst>
          </a:prstGeom>
          <a:solidFill>
            <a:srgbClr val="0F141A"/>
          </a:solidFill>
          <a:ln w="17780">
            <a:solidFill>
              <a:srgbClr val="2E3A47"/>
            </a:solidFill>
            <a:prstDash val="solid"/>
          </a:ln>
        </p:spPr>
      </p:sp>
      <p:pic>
        <p:nvPicPr>
          <p:cNvPr id="6" name="Image 0" descr="/sessions/amazing-relaxed-lovelace/mnt/lh_nautical_challenge/dashboard/print_dashboard_executiva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4912" y="2121408"/>
            <a:ext cx="6748272" cy="4123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F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POWER BI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Visão de Clientes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médio, diversidade de categorias e clientes elite (Questão 4).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1183112" cy="4434840"/>
          </a:xfrm>
          <a:prstGeom prst="roundRect">
            <a:avLst>
              <a:gd name="adj" fmla="val 1031"/>
            </a:avLst>
          </a:prstGeom>
          <a:solidFill>
            <a:srgbClr val="0F141A"/>
          </a:solidFill>
          <a:ln w="17780">
            <a:solidFill>
              <a:srgbClr val="2E3A47"/>
            </a:solidFill>
            <a:prstDash val="solid"/>
          </a:ln>
        </p:spPr>
      </p:sp>
      <p:pic>
        <p:nvPicPr>
          <p:cNvPr id="6" name="Image 0" descr="/sessions/amazing-relaxed-lovelace/mnt/lh_nautical_challenge/dashboard/print_dashboard_clientes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1528" y="2121408"/>
            <a:ext cx="6035040" cy="4123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 NAUTICAL  ·  DATA CHALLENGE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286000"/>
            <a:ext cx="6400800" cy="6400800"/>
          </a:xfrm>
          <a:prstGeom prst="ellipse">
            <a:avLst/>
          </a:prstGeom>
          <a:solidFill>
            <a:srgbClr val="1B25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5F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fica deste desafio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67128"/>
            <a:ext cx="146304" cy="146304"/>
          </a:xfrm>
          <a:prstGeom prst="ellipse">
            <a:avLst/>
          </a:prstGeom>
          <a:solidFill>
            <a:srgbClr val="6FA3C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9397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 ≠ dado confiável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96312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sem tratamento já revelou nulos, outliers e datas futuras que mudam o diagnóstico de “pronto para decisão”.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136392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3337560"/>
            <a:ext cx="146304" cy="146304"/>
          </a:xfrm>
          <a:prstGeom prst="ellipse">
            <a:avLst/>
          </a:prstGeom>
          <a:solidFill>
            <a:srgbClr val="5FB8A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264408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negócio muda o resultado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3666744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dimensão de calendário trocou o pior dia de vendas de domingo para quinta-feira.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4507992"/>
            <a:ext cx="146304" cy="146304"/>
          </a:xfrm>
          <a:prstGeom prst="ellipse">
            <a:avLst/>
          </a:prstGeom>
          <a:solidFill>
            <a:srgbClr val="C9975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4348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não é chave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49808" y="4837176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duplicados (“asdf”, “Bússola de Bordo 702”) só aparecem agrupando por id, nunca por nome.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477256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1D2630"/>
          </a:solidFill>
          <a:ln w="12700">
            <a:solidFill>
              <a:srgbClr val="2E3A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5678424"/>
            <a:ext cx="146304" cy="146304"/>
          </a:xfrm>
          <a:prstGeom prst="ellipse">
            <a:avLst/>
          </a:prstGeom>
          <a:solidFill>
            <a:srgbClr val="8F93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6052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5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simples, limite claro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6007608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D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móvel prevê bem tendência, mas erra mudança brusca de patamar — risco real de ruptura de estoque.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completo (SQL, Python, README) no GitHub  ·  painel em dashboard/Dashboard.pbix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28655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2026-08-17T01:36:19Z</dcterms:created>
  <dcterms:modified xsi:type="dcterms:W3CDTF">2026-08-17T01:36:19Z</dcterms:modified>
</cp:coreProperties>
</file>